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Figtree Medium" panose="020B0604020202020204" charset="0"/>
      <p:regular r:id="rId11"/>
      <p:bold r:id="rId12"/>
      <p:italic r:id="rId13"/>
      <p:boldItalic r:id="rId14"/>
    </p:embeddedFont>
    <p:embeddedFont>
      <p:font typeface="Figtree SemiBold" panose="020B0604020202020204" charset="0"/>
      <p:regular r:id="rId15"/>
      <p:bold r:id="rId16"/>
      <p:italic r:id="rId17"/>
      <p:boldItalic r:id="rId18"/>
    </p:embeddedFont>
    <p:embeddedFont>
      <p:font typeface="Lora" pitchFamily="2" charset="0"/>
      <p:regular r:id="rId19"/>
      <p:bold r:id="rId20"/>
      <p:italic r:id="rId21"/>
      <p:boldItalic r:id="rId22"/>
    </p:embeddedFont>
    <p:embeddedFont>
      <p:font typeface="Lora Medium" pitchFamily="2" charset="0"/>
      <p:regular r:id="rId23"/>
      <p:bold r:id="rId24"/>
      <p:italic r:id="rId25"/>
      <p:boldItalic r:id="rId26"/>
    </p:embeddedFont>
    <p:embeddedFont>
      <p:font typeface="Lora SemiBold" panose="020B0604020202020204" charset="0"/>
      <p:regular r:id="rId27"/>
      <p:bold r:id="rId28"/>
      <p:italic r:id="rId29"/>
      <p:boldItalic r:id="rId30"/>
    </p:embeddedFont>
    <p:embeddedFont>
      <p:font typeface="Roboto" panose="02000000000000000000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8F31"/>
    <a:srgbClr val="2D3B12"/>
    <a:srgbClr val="D9D9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font" Target="fonts/font16.fntdata"/><Relationship Id="rId21" Type="http://schemas.openxmlformats.org/officeDocument/2006/relationships/font" Target="fonts/font11.fntdata"/><Relationship Id="rId34" Type="http://schemas.openxmlformats.org/officeDocument/2006/relationships/font" Target="fonts/font24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33" Type="http://schemas.openxmlformats.org/officeDocument/2006/relationships/font" Target="fonts/font23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font" Target="fonts/font1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32" Type="http://schemas.openxmlformats.org/officeDocument/2006/relationships/font" Target="fonts/font22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font" Target="fonts/font18.fntdata"/><Relationship Id="rId36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31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font" Target="fonts/font17.fntdata"/><Relationship Id="rId30" Type="http://schemas.openxmlformats.org/officeDocument/2006/relationships/font" Target="fonts/font20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6ed19b84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6ed19b84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6ed19b842a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6ed19b842a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6ed19b842a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6ed19b842a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6ed19b842a_0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6ed19b842a_0_3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6ed19b842a_0_3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6ed19b842a_0_3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6ed19b842a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6ed19b842a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77833f436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b77833f436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" name="Google Shape;2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_AND_BODY_2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4" name="Google Shape;54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5" title="slide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42550"/>
            <a:ext cx="9143999" cy="519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6" title="slide9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74173" cy="5224875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6"/>
          <p:cNvSpPr txBox="1"/>
          <p:nvPr/>
        </p:nvSpPr>
        <p:spPr>
          <a:xfrm>
            <a:off x="1832814" y="4476930"/>
            <a:ext cx="4922315" cy="5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dirty="0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 QA Energetic (Group Number – 6)</a:t>
            </a:r>
            <a:endParaRPr sz="2200" b="1" dirty="0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6" name="Google Shape;66;p16"/>
          <p:cNvSpPr txBox="1"/>
          <p:nvPr/>
        </p:nvSpPr>
        <p:spPr>
          <a:xfrm>
            <a:off x="582930" y="1335495"/>
            <a:ext cx="5139485" cy="1474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2400" b="1" dirty="0">
                <a:solidFill>
                  <a:schemeClr val="bg1"/>
                </a:solidFill>
                <a:latin typeface="Lora"/>
                <a:ea typeface="Lora"/>
                <a:cs typeface="Lora"/>
                <a:sym typeface="Lora"/>
              </a:rPr>
              <a:t>AutoQA.AI</a:t>
            </a:r>
          </a:p>
          <a:p>
            <a:pPr lvl="0" algn="ctr"/>
            <a:endParaRPr lang="en" sz="2400" b="1" dirty="0">
              <a:solidFill>
                <a:schemeClr val="bg1"/>
              </a:solidFill>
              <a:latin typeface="Lora"/>
              <a:ea typeface="Figtree SemiBold"/>
              <a:cs typeface="Figtree SemiBold"/>
              <a:sym typeface="Lora"/>
            </a:endParaRPr>
          </a:p>
          <a:p>
            <a:pPr lvl="0" algn="ctr"/>
            <a:r>
              <a:rPr lang="en-US" dirty="0">
                <a:solidFill>
                  <a:schemeClr val="bg1"/>
                </a:solidFill>
              </a:rPr>
              <a:t>Fluid Code meets Rigid Testing</a:t>
            </a:r>
            <a:endParaRPr sz="2400" dirty="0">
              <a:solidFill>
                <a:schemeClr val="bg1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7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7"/>
          <p:cNvPicPr preferRelativeResize="0"/>
          <p:nvPr/>
        </p:nvPicPr>
        <p:blipFill>
          <a:blip r:embed="rId4">
            <a:alphaModFix/>
          </a:blip>
          <a:srcRect t="9764" b="9764"/>
          <a:stretch/>
        </p:blipFill>
        <p:spPr>
          <a:xfrm>
            <a:off x="1181526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3" name="Google Shape;73;p17"/>
          <p:cNvSpPr txBox="1"/>
          <p:nvPr/>
        </p:nvSpPr>
        <p:spPr>
          <a:xfrm>
            <a:off x="1152948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Mayank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4" name="Google Shape;74;p17"/>
          <p:cNvSpPr/>
          <p:nvPr/>
        </p:nvSpPr>
        <p:spPr>
          <a:xfrm>
            <a:off x="904850" y="3330350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" name="Google Shape;75;p17"/>
          <p:cNvSpPr txBox="1"/>
          <p:nvPr/>
        </p:nvSpPr>
        <p:spPr>
          <a:xfrm>
            <a:off x="1105773" y="3442744"/>
            <a:ext cx="1267200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sz="1200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Building Quality Culture via Engineering Leadership</a:t>
            </a:r>
            <a:endParaRPr sz="1100"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6" name="Google Shape;76;p17"/>
          <p:cNvSpPr txBox="1"/>
          <p:nvPr/>
        </p:nvSpPr>
        <p:spPr>
          <a:xfrm>
            <a:off x="862700" y="2779785"/>
            <a:ext cx="175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QA Manager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77" name="Google Shape;77;p17"/>
          <p:cNvPicPr preferRelativeResize="0"/>
          <p:nvPr/>
        </p:nvPicPr>
        <p:blipFill>
          <a:blip r:embed="rId5">
            <a:alphaModFix/>
          </a:blip>
          <a:srcRect t="14214" b="14214"/>
          <a:stretch/>
        </p:blipFill>
        <p:spPr>
          <a:xfrm>
            <a:off x="3065915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8" name="Google Shape;78;p17"/>
          <p:cNvSpPr txBox="1"/>
          <p:nvPr/>
        </p:nvSpPr>
        <p:spPr>
          <a:xfrm>
            <a:off x="3037338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Deepthi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9" name="Google Shape;79;p17"/>
          <p:cNvSpPr/>
          <p:nvPr/>
        </p:nvSpPr>
        <p:spPr>
          <a:xfrm>
            <a:off x="2789239" y="3330350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" name="Google Shape;80;p17"/>
          <p:cNvSpPr txBox="1"/>
          <p:nvPr/>
        </p:nvSpPr>
        <p:spPr>
          <a:xfrm>
            <a:off x="2904186" y="3442744"/>
            <a:ext cx="1353126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lnSpc>
                <a:spcPct val="115000"/>
              </a:lnSpc>
              <a:defRPr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</a:defRPr>
            </a:lvl1pPr>
          </a:lstStyle>
          <a:p>
            <a:r>
              <a:rPr lang="en-IN" dirty="0"/>
              <a:t>Transforming business to make data driven decisions</a:t>
            </a:r>
            <a:endParaRPr dirty="0">
              <a:sym typeface="Figtree Medium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2713331" y="2813751"/>
            <a:ext cx="1884394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IN" sz="1100" dirty="0">
                <a:solidFill>
                  <a:srgbClr val="FFFFFF"/>
                </a:solidFill>
                <a:latin typeface="Figtree Medium"/>
              </a:rPr>
              <a:t>Director</a:t>
            </a:r>
            <a:r>
              <a:rPr lang="en-IN" sz="1100" dirty="0">
                <a:solidFill>
                  <a:schemeClr val="bg1"/>
                </a:solidFill>
              </a:rPr>
              <a:t> data and analytics</a:t>
            </a:r>
            <a:endParaRPr sz="11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82" name="Google Shape;82;p17"/>
          <p:cNvPicPr preferRelativeResize="0"/>
          <p:nvPr/>
        </p:nvPicPr>
        <p:blipFill>
          <a:blip r:embed="rId6">
            <a:alphaModFix/>
          </a:blip>
          <a:srcRect t="25731" b="25731"/>
          <a:stretch/>
        </p:blipFill>
        <p:spPr>
          <a:xfrm>
            <a:off x="4962537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3" name="Google Shape;83;p17"/>
          <p:cNvSpPr txBox="1"/>
          <p:nvPr/>
        </p:nvSpPr>
        <p:spPr>
          <a:xfrm>
            <a:off x="4933960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Varun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84" name="Google Shape;84;p17"/>
          <p:cNvSpPr/>
          <p:nvPr/>
        </p:nvSpPr>
        <p:spPr>
          <a:xfrm>
            <a:off x="4685861" y="3330353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4752304" y="3442744"/>
            <a:ext cx="1539026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lnSpc>
                <a:spcPct val="115000"/>
              </a:lnSpc>
              <a:defRPr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</a:defRPr>
            </a:lvl1pPr>
          </a:lstStyle>
          <a:p>
            <a:r>
              <a:rPr lang="en-IN" dirty="0"/>
              <a:t>Full Stack Engineer Specializing in AI-Powered Applications</a:t>
            </a:r>
            <a:endParaRPr dirty="0">
              <a:sym typeface="Figtree Medium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4500286" y="2775617"/>
            <a:ext cx="2069965" cy="573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Full Stack AI Product Engineer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87" name="Google Shape;87;p17"/>
          <p:cNvPicPr preferRelativeResize="0"/>
          <p:nvPr/>
        </p:nvPicPr>
        <p:blipFill>
          <a:blip r:embed="rId7">
            <a:alphaModFix/>
          </a:blip>
          <a:srcRect t="13208" b="13208"/>
          <a:stretch/>
        </p:blipFill>
        <p:spPr>
          <a:xfrm>
            <a:off x="6846927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8" name="Google Shape;88;p17"/>
          <p:cNvSpPr txBox="1"/>
          <p:nvPr/>
        </p:nvSpPr>
        <p:spPr>
          <a:xfrm>
            <a:off x="6818350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Meetu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6570251" y="3330353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6771027" y="3548926"/>
            <a:ext cx="1267200" cy="821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GenAI Mentor and ECM consultant</a:t>
            </a:r>
            <a:endParaRPr sz="1100"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91" name="Google Shape;91;p17"/>
          <p:cNvSpPr txBox="1"/>
          <p:nvPr/>
        </p:nvSpPr>
        <p:spPr>
          <a:xfrm>
            <a:off x="6528102" y="2779785"/>
            <a:ext cx="175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Full Stack Developer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92" name="Google Shape;92;p17"/>
          <p:cNvSpPr txBox="1"/>
          <p:nvPr/>
        </p:nvSpPr>
        <p:spPr>
          <a:xfrm>
            <a:off x="1065225" y="593725"/>
            <a:ext cx="7065000" cy="50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Meet The Team Members OR Your Introduction ✨</a:t>
            </a:r>
            <a:endParaRPr sz="2100" b="1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8" title="slide2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94750" y="-59838"/>
            <a:ext cx="9333499" cy="5263176"/>
          </a:xfrm>
          <a:prstGeom prst="rect">
            <a:avLst/>
          </a:prstGeom>
          <a:solidFill>
            <a:srgbClr val="2D3B12"/>
          </a:solidFill>
          <a:ln>
            <a:noFill/>
          </a:ln>
        </p:spPr>
      </p:pic>
      <p:sp>
        <p:nvSpPr>
          <p:cNvPr id="98" name="Google Shape;98;p18"/>
          <p:cNvSpPr txBox="1"/>
          <p:nvPr/>
        </p:nvSpPr>
        <p:spPr>
          <a:xfrm>
            <a:off x="495125" y="1470081"/>
            <a:ext cx="6258163" cy="6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000" dirty="0">
                <a:solidFill>
                  <a:schemeClr val="bg1"/>
                </a:solidFill>
                <a:latin typeface="Lora Medium"/>
                <a:sym typeface="Lora Medium"/>
              </a:rPr>
              <a:t>Legacy Web App Testing = </a:t>
            </a:r>
            <a:r>
              <a:rPr lang="en-IN" sz="2000" dirty="0">
                <a:solidFill>
                  <a:schemeClr val="bg1"/>
                </a:solidFill>
                <a:latin typeface="Lora Medium"/>
              </a:rPr>
              <a:t>Skyrocketing </a:t>
            </a:r>
            <a:r>
              <a:rPr lang="en-US" sz="2000" dirty="0">
                <a:solidFill>
                  <a:schemeClr val="bg1"/>
                </a:solidFill>
                <a:latin typeface="Lora Medium"/>
                <a:sym typeface="Lora Medium"/>
              </a:rPr>
              <a:t> Cost + </a:t>
            </a:r>
            <a:r>
              <a:rPr lang="en-IN" sz="2000" dirty="0">
                <a:solidFill>
                  <a:schemeClr val="bg1"/>
                </a:solidFill>
                <a:latin typeface="Lora Medium"/>
              </a:rPr>
              <a:t>Broken Production Deployments</a:t>
            </a:r>
            <a:endParaRPr sz="2000" dirty="0">
              <a:solidFill>
                <a:schemeClr val="bg1"/>
              </a:solidFill>
              <a:latin typeface="Lora Medium"/>
              <a:sym typeface="Lora Medium"/>
            </a:endParaRPr>
          </a:p>
        </p:txBody>
      </p:sp>
      <p:sp>
        <p:nvSpPr>
          <p:cNvPr id="99" name="Google Shape;99;p18"/>
          <p:cNvSpPr txBox="1"/>
          <p:nvPr/>
        </p:nvSpPr>
        <p:spPr>
          <a:xfrm>
            <a:off x="495125" y="616575"/>
            <a:ext cx="7289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solidFill>
                  <a:schemeClr val="bg1"/>
                </a:solidFill>
                <a:latin typeface="Lora"/>
                <a:ea typeface="Lora"/>
                <a:cs typeface="Lora"/>
                <a:sym typeface="Lora"/>
              </a:rPr>
              <a:t>What is the Problem you are solving?</a:t>
            </a:r>
            <a:endParaRPr sz="2500" b="1" dirty="0">
              <a:solidFill>
                <a:schemeClr val="bg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04" name="Google Shape;104;p18"/>
          <p:cNvSpPr txBox="1"/>
          <p:nvPr/>
        </p:nvSpPr>
        <p:spPr>
          <a:xfrm>
            <a:off x="413063" y="2727643"/>
            <a:ext cx="1386506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dirty="0">
                <a:solidFill>
                  <a:schemeClr val="bg1"/>
                </a:solidFill>
              </a:rPr>
              <a:t>Manual testing is slow and brittle</a:t>
            </a:r>
            <a:endParaRPr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2" name="Google Shape;104;p18">
            <a:extLst>
              <a:ext uri="{FF2B5EF4-FFF2-40B4-BE49-F238E27FC236}">
                <a16:creationId xmlns:a16="http://schemas.microsoft.com/office/drawing/2014/main" id="{6B36EB29-2045-827F-8F89-23885A4101EB}"/>
              </a:ext>
            </a:extLst>
          </p:cNvPr>
          <p:cNvSpPr txBox="1"/>
          <p:nvPr/>
        </p:nvSpPr>
        <p:spPr>
          <a:xfrm>
            <a:off x="2058595" y="2789198"/>
            <a:ext cx="1386506" cy="126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Traditional scripting takes lot of time to create and Mantain</a:t>
            </a:r>
            <a:endParaRPr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A433EB-43D4-49AF-8870-3A8A01B2C098}"/>
              </a:ext>
            </a:extLst>
          </p:cNvPr>
          <p:cNvSpPr txBox="1"/>
          <p:nvPr/>
        </p:nvSpPr>
        <p:spPr>
          <a:xfrm>
            <a:off x="1761934" y="3082635"/>
            <a:ext cx="450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&amp;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F6666E-25F1-1569-C7DE-3302D36136FC}"/>
              </a:ext>
            </a:extLst>
          </p:cNvPr>
          <p:cNvSpPr txBox="1"/>
          <p:nvPr/>
        </p:nvSpPr>
        <p:spPr>
          <a:xfrm>
            <a:off x="3624206" y="3048019"/>
            <a:ext cx="671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Kills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C2DE74C-934A-A1C4-33B1-03486B5A898D}"/>
              </a:ext>
            </a:extLst>
          </p:cNvPr>
          <p:cNvCxnSpPr>
            <a:cxnSpLocks/>
          </p:cNvCxnSpPr>
          <p:nvPr/>
        </p:nvCxnSpPr>
        <p:spPr>
          <a:xfrm>
            <a:off x="3588367" y="3373958"/>
            <a:ext cx="707352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FFA054D-42DE-57EB-D227-D4DEFB3692D7}"/>
              </a:ext>
            </a:extLst>
          </p:cNvPr>
          <p:cNvSpPr txBox="1"/>
          <p:nvPr/>
        </p:nvSpPr>
        <p:spPr>
          <a:xfrm>
            <a:off x="4780707" y="2727643"/>
            <a:ext cx="10609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Growth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75C5DD-386A-BEC1-1F59-43F1D286374D}"/>
              </a:ext>
            </a:extLst>
          </p:cNvPr>
          <p:cNvSpPr txBox="1"/>
          <p:nvPr/>
        </p:nvSpPr>
        <p:spPr>
          <a:xfrm>
            <a:off x="4766511" y="3197536"/>
            <a:ext cx="9323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Revenue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1AAB1E-6034-256D-6EF5-57195B28F811}"/>
              </a:ext>
            </a:extLst>
          </p:cNvPr>
          <p:cNvSpPr txBox="1"/>
          <p:nvPr/>
        </p:nvSpPr>
        <p:spPr>
          <a:xfrm>
            <a:off x="4780707" y="3721169"/>
            <a:ext cx="10609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Innovation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4B291C-201F-CD1E-79AB-BF132740C345}"/>
              </a:ext>
            </a:extLst>
          </p:cNvPr>
          <p:cNvSpPr txBox="1"/>
          <p:nvPr/>
        </p:nvSpPr>
        <p:spPr>
          <a:xfrm>
            <a:off x="5048909" y="3004290"/>
            <a:ext cx="3071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E6F00-6ADC-E5F0-C86B-A77A20BEAE97}"/>
              </a:ext>
            </a:extLst>
          </p:cNvPr>
          <p:cNvSpPr txBox="1"/>
          <p:nvPr/>
        </p:nvSpPr>
        <p:spPr>
          <a:xfrm>
            <a:off x="5079115" y="3461801"/>
            <a:ext cx="3071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9" title="slide14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8046"/>
            <a:ext cx="9143999" cy="5151546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9"/>
          <p:cNvSpPr txBox="1"/>
          <p:nvPr/>
        </p:nvSpPr>
        <p:spPr>
          <a:xfrm>
            <a:off x="6787859" y="2609497"/>
            <a:ext cx="2257171" cy="1258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  <a:latin typeface="Lora Medium"/>
                <a:ea typeface="Lora Medium"/>
                <a:cs typeface="Lora Medium"/>
                <a:sym typeface="Lora Medium"/>
              </a:rPr>
              <a:t>slashes costs, speeds up releases and ensures flawless software - effortlessly.</a:t>
            </a:r>
          </a:p>
        </p:txBody>
      </p:sp>
      <p:sp>
        <p:nvSpPr>
          <p:cNvPr id="112" name="Google Shape;112;p19"/>
          <p:cNvSpPr txBox="1"/>
          <p:nvPr/>
        </p:nvSpPr>
        <p:spPr>
          <a:xfrm>
            <a:off x="557735" y="385716"/>
            <a:ext cx="7289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How are you solving the problems?</a:t>
            </a:r>
            <a:endParaRPr sz="2500" b="1" dirty="0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646EEC3-1E6E-857F-6B28-4585D7E0AD94}"/>
              </a:ext>
            </a:extLst>
          </p:cNvPr>
          <p:cNvGrpSpPr/>
          <p:nvPr/>
        </p:nvGrpSpPr>
        <p:grpSpPr>
          <a:xfrm>
            <a:off x="782947" y="2035364"/>
            <a:ext cx="4366800" cy="617100"/>
            <a:chOff x="699850" y="2196925"/>
            <a:chExt cx="4366800" cy="617100"/>
          </a:xfrm>
        </p:grpSpPr>
        <p:sp>
          <p:nvSpPr>
            <p:cNvPr id="113" name="Google Shape;113;p19"/>
            <p:cNvSpPr/>
            <p:nvPr/>
          </p:nvSpPr>
          <p:spPr>
            <a:xfrm>
              <a:off x="699850" y="2196925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6" name="Google Shape;116;p19"/>
            <p:cNvSpPr txBox="1"/>
            <p:nvPr/>
          </p:nvSpPr>
          <p:spPr>
            <a:xfrm>
              <a:off x="894059" y="2305435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AI generated Scripts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CA100B0-ABF2-1F03-4E7E-30B7233446FA}"/>
              </a:ext>
            </a:extLst>
          </p:cNvPr>
          <p:cNvGrpSpPr/>
          <p:nvPr/>
        </p:nvGrpSpPr>
        <p:grpSpPr>
          <a:xfrm>
            <a:off x="782947" y="2885714"/>
            <a:ext cx="4366800" cy="617100"/>
            <a:chOff x="699850" y="3010950"/>
            <a:chExt cx="4366800" cy="617100"/>
          </a:xfrm>
        </p:grpSpPr>
        <p:sp>
          <p:nvSpPr>
            <p:cNvPr id="114" name="Google Shape;114;p19"/>
            <p:cNvSpPr/>
            <p:nvPr/>
          </p:nvSpPr>
          <p:spPr>
            <a:xfrm>
              <a:off x="699850" y="3010950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7" name="Google Shape;117;p19"/>
            <p:cNvSpPr txBox="1"/>
            <p:nvPr/>
          </p:nvSpPr>
          <p:spPr>
            <a:xfrm>
              <a:off x="981536" y="3096300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Bug Deduction and Reporting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3A5C25-9235-4220-96E1-78B14041EAB9}"/>
              </a:ext>
            </a:extLst>
          </p:cNvPr>
          <p:cNvGrpSpPr/>
          <p:nvPr/>
        </p:nvGrpSpPr>
        <p:grpSpPr>
          <a:xfrm>
            <a:off x="782947" y="3683466"/>
            <a:ext cx="4366800" cy="617100"/>
            <a:chOff x="782947" y="3303541"/>
            <a:chExt cx="4366800" cy="617100"/>
          </a:xfrm>
        </p:grpSpPr>
        <p:sp>
          <p:nvSpPr>
            <p:cNvPr id="115" name="Google Shape;115;p19"/>
            <p:cNvSpPr/>
            <p:nvPr/>
          </p:nvSpPr>
          <p:spPr>
            <a:xfrm>
              <a:off x="782947" y="3303541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8" name="Google Shape;118;p19"/>
            <p:cNvSpPr txBox="1"/>
            <p:nvPr/>
          </p:nvSpPr>
          <p:spPr>
            <a:xfrm>
              <a:off x="1064633" y="3388891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Self Healing Scripts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sp>
        <p:nvSpPr>
          <p:cNvPr id="2" name="Google Shape;116;p19">
            <a:extLst>
              <a:ext uri="{FF2B5EF4-FFF2-40B4-BE49-F238E27FC236}">
                <a16:creationId xmlns:a16="http://schemas.microsoft.com/office/drawing/2014/main" id="{98E18856-3843-BA1F-62B3-C3CE01B942C0}"/>
              </a:ext>
            </a:extLst>
          </p:cNvPr>
          <p:cNvSpPr txBox="1"/>
          <p:nvPr/>
        </p:nvSpPr>
        <p:spPr>
          <a:xfrm>
            <a:off x="5477271" y="4375125"/>
            <a:ext cx="38394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>
                <a:solidFill>
                  <a:schemeClr val="accent4">
                    <a:lumMod val="60000"/>
                    <a:lumOff val="40000"/>
                  </a:schemeClr>
                </a:solidFill>
                <a:latin typeface="Lora Medium"/>
                <a:ea typeface="Lora Medium"/>
                <a:cs typeface="Lora Medium"/>
              </a:defRPr>
            </a:lvl1pPr>
          </a:lstStyle>
          <a:p>
            <a:r>
              <a:rPr lang="en-IN" dirty="0">
                <a:solidFill>
                  <a:schemeClr val="bg1"/>
                </a:solidFill>
              </a:rPr>
              <a:t>Solution enables 30-40% of cost savings.</a:t>
            </a:r>
            <a:endParaRPr dirty="0">
              <a:solidFill>
                <a:schemeClr val="bg1"/>
              </a:solidFill>
              <a:sym typeface="Figtree Medium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973288-2720-78DC-F6B4-1E3D4011D24B}"/>
              </a:ext>
            </a:extLst>
          </p:cNvPr>
          <p:cNvSpPr txBox="1"/>
          <p:nvPr/>
        </p:nvSpPr>
        <p:spPr>
          <a:xfrm>
            <a:off x="557735" y="1148300"/>
            <a:ext cx="649988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An autonomous AI enabled solution that explores your web application like a real user, discovering flaws and instantly generating its own durable regression test suites.</a:t>
            </a:r>
          </a:p>
        </p:txBody>
      </p:sp>
      <p:sp>
        <p:nvSpPr>
          <p:cNvPr id="13" name="Google Shape;116;p19">
            <a:extLst>
              <a:ext uri="{FF2B5EF4-FFF2-40B4-BE49-F238E27FC236}">
                <a16:creationId xmlns:a16="http://schemas.microsoft.com/office/drawing/2014/main" id="{310CEA1F-9CE2-8397-3422-A18B8B8DB929}"/>
              </a:ext>
            </a:extLst>
          </p:cNvPr>
          <p:cNvSpPr txBox="1"/>
          <p:nvPr/>
        </p:nvSpPr>
        <p:spPr>
          <a:xfrm>
            <a:off x="5390935" y="3937033"/>
            <a:ext cx="38394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IN" sz="1800" dirty="0">
                <a:solidFill>
                  <a:schemeClr val="bg1"/>
                </a:solidFill>
              </a:rPr>
              <a:t>Expected Output</a:t>
            </a:r>
            <a:endParaRPr sz="17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4" name="Google Shape;116;p19">
            <a:extLst>
              <a:ext uri="{FF2B5EF4-FFF2-40B4-BE49-F238E27FC236}">
                <a16:creationId xmlns:a16="http://schemas.microsoft.com/office/drawing/2014/main" id="{8E78F75F-DDC2-4D2B-E8E0-4B4904876723}"/>
              </a:ext>
            </a:extLst>
          </p:cNvPr>
          <p:cNvSpPr txBox="1"/>
          <p:nvPr/>
        </p:nvSpPr>
        <p:spPr>
          <a:xfrm>
            <a:off x="5477271" y="2352704"/>
            <a:ext cx="38394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IN" sz="1800" dirty="0">
                <a:solidFill>
                  <a:schemeClr val="bg1"/>
                </a:solidFill>
              </a:rPr>
              <a:t>Value Add</a:t>
            </a:r>
            <a:endParaRPr sz="17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0" title="slide 22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2489"/>
            <a:ext cx="9143997" cy="5152428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0"/>
          <p:cNvSpPr txBox="1"/>
          <p:nvPr/>
        </p:nvSpPr>
        <p:spPr>
          <a:xfrm>
            <a:off x="927450" y="473075"/>
            <a:ext cx="72891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Target Audience</a:t>
            </a:r>
            <a:endParaRPr sz="2800" b="1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25" name="Google Shape;125;p20"/>
          <p:cNvSpPr txBox="1"/>
          <p:nvPr/>
        </p:nvSpPr>
        <p:spPr>
          <a:xfrm>
            <a:off x="1808075" y="1928675"/>
            <a:ext cx="37017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Target Audience (Primary)</a:t>
            </a:r>
            <a:endParaRPr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26" name="Google Shape;126;p20"/>
          <p:cNvSpPr txBox="1"/>
          <p:nvPr/>
        </p:nvSpPr>
        <p:spPr>
          <a:xfrm>
            <a:off x="1808075" y="3540600"/>
            <a:ext cx="37017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Target Audience (Secondary)</a:t>
            </a:r>
            <a:endParaRPr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BF4F24-0D79-A0F3-2509-CF62F9A18029}"/>
              </a:ext>
            </a:extLst>
          </p:cNvPr>
          <p:cNvSpPr txBox="1"/>
          <p:nvPr/>
        </p:nvSpPr>
        <p:spPr>
          <a:xfrm>
            <a:off x="5891699" y="1837637"/>
            <a:ext cx="17235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Next-Gen AI Builders &amp; Vibe Coders</a:t>
            </a:r>
            <a:endParaRPr lang="en-IN" sz="12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545E1F-B3AF-65A8-77CA-004AE9C4DF83}"/>
              </a:ext>
            </a:extLst>
          </p:cNvPr>
          <p:cNvSpPr txBox="1"/>
          <p:nvPr/>
        </p:nvSpPr>
        <p:spPr>
          <a:xfrm>
            <a:off x="5891699" y="3371269"/>
            <a:ext cx="1646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Enterprise Agile Software Engineering teams</a:t>
            </a:r>
            <a:endParaRPr lang="en-IN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1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solidFill>
            <a:srgbClr val="6F8F31"/>
          </a:solidFill>
          <a:ln>
            <a:noFill/>
          </a:ln>
        </p:spPr>
      </p:pic>
      <p:sp>
        <p:nvSpPr>
          <p:cNvPr id="132" name="Google Shape;132;p21"/>
          <p:cNvSpPr txBox="1"/>
          <p:nvPr/>
        </p:nvSpPr>
        <p:spPr>
          <a:xfrm>
            <a:off x="1519707" y="1794530"/>
            <a:ext cx="5684320" cy="1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solidFill>
                  <a:srgbClr val="FFFFFF"/>
                </a:solidFill>
                <a:latin typeface="Lora SemiBold"/>
                <a:ea typeface="Lora SemiBold"/>
                <a:cs typeface="Lora SemiBold"/>
                <a:sym typeface="Lora SemiBold"/>
              </a:rPr>
              <a:t>Product Link: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Lora SemiBold"/>
                <a:ea typeface="Lora SemiBold"/>
                <a:cs typeface="Lora SemiBold"/>
                <a:sym typeface="Lora SemiBold"/>
              </a:rPr>
              <a:t>Coming Soon</a:t>
            </a:r>
            <a:endParaRPr sz="3200" dirty="0">
              <a:solidFill>
                <a:schemeClr val="accent1">
                  <a:lumMod val="60000"/>
                  <a:lumOff val="40000"/>
                </a:schemeClr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2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2"/>
          <p:cNvSpPr txBox="1"/>
          <p:nvPr/>
        </p:nvSpPr>
        <p:spPr>
          <a:xfrm>
            <a:off x="2319900" y="2026350"/>
            <a:ext cx="4504200" cy="1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FFFFFF"/>
                </a:solidFill>
                <a:latin typeface="Lora SemiBold"/>
                <a:ea typeface="Lora SemiBold"/>
                <a:cs typeface="Lora SemiBold"/>
                <a:sym typeface="Lora SemiBold"/>
              </a:rPr>
              <a:t>Thank You ✨</a:t>
            </a:r>
            <a:endParaRPr sz="3200">
              <a:solidFill>
                <a:srgbClr val="FFFFFF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210</Words>
  <Application>Microsoft Office PowerPoint</Application>
  <PresentationFormat>On-screen Show (16:9)</PresentationFormat>
  <Paragraphs>44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Lora</vt:lpstr>
      <vt:lpstr>Figtree Medium</vt:lpstr>
      <vt:lpstr>Roboto</vt:lpstr>
      <vt:lpstr>Lora SemiBold</vt:lpstr>
      <vt:lpstr>Arial</vt:lpstr>
      <vt:lpstr>Lora Medium</vt:lpstr>
      <vt:lpstr>Figtree SemiBold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Meetu Chandra</cp:lastModifiedBy>
  <cp:revision>14</cp:revision>
  <dcterms:modified xsi:type="dcterms:W3CDTF">2026-05-30T09:06:10Z</dcterms:modified>
</cp:coreProperties>
</file>